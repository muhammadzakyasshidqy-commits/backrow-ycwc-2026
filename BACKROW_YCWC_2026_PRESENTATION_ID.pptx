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2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"/>
            <a:ext cx="12191695" cy="0"/>
          </a:xfrm>
          <a:prstGeom prst="line">
            <a:avLst/>
          </a:prstGeom>
          <a:noFill/>
          <a:ln w="9525">
            <a:solidFill>
              <a:srgbClr val="0B0D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BACKROW / YCWC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1188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PRESENTASI DARI SUDUT PENONTON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6350">
            <a:solidFill>
              <a:srgbClr val="0B0D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660196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Bukti kamera bukan klaim medis tentang penglihatan manusia.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13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 / KEGAGALAN FISIK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4892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Baris paling belakang</a:t>
            </a:r>
          </a:p>
          <a:p>
            <a:r>
              <a:t>masih bisa membacanya?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27889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Penonton tidak pernah melihat file sumber. Mereka melihat apa yang masih bertahan setelah jarak, proyeksi, fokus, pencahayaan, dan perspektif.</a:t>
            </a:r>
          </a:p>
        </p:txBody>
      </p:sp>
      <p:sp>
        <p:nvSpPr>
          <p:cNvPr id="5" name="Text 3"/>
          <p:cNvSpPr/>
          <p:nvPr/>
        </p:nvSpPr>
        <p:spPr>
          <a:xfrm>
            <a:off x="594360" y="4160520"/>
            <a:ext cx="914400" cy="256032"/>
          </a:xfrm>
          <a:prstGeom prst="rect">
            <a:avLst/>
          </a:prstGeom>
          <a:solidFill>
            <a:srgbClr val="F2F2ED"/>
          </a:solidFill>
          <a:ln w="8890">
            <a:solidFill>
              <a:srgbClr val="0B0D0C"/>
            </a:solidFill>
          </a:ln>
        </p:spPr>
        <p:txBody>
          <a:bodyPr wrap="square" lIns="635" tIns="635" rIns="635" bIns="635" rtlCol="0" anchor="ctr"/>
          <a:lstStyle/>
          <a:p>
            <a:r>
              <a:t>SUMBER</a:t>
            </a:r>
          </a:p>
        </p:txBody>
      </p:sp>
      <p:sp>
        <p:nvSpPr>
          <p:cNvPr id="6" name="Text 4"/>
          <p:cNvSpPr/>
          <p:nvPr/>
        </p:nvSpPr>
        <p:spPr>
          <a:xfrm>
            <a:off x="2670048" y="4160520"/>
            <a:ext cx="1143000" cy="256032"/>
          </a:xfrm>
          <a:prstGeom prst="rect">
            <a:avLst/>
          </a:prstGeom>
          <a:solidFill>
            <a:srgbClr val="F2F2ED"/>
          </a:solidFill>
          <a:ln w="8890">
            <a:solidFill>
              <a:srgbClr val="0B0D0C"/>
            </a:solidFill>
          </a:ln>
        </p:spPr>
        <p:txBody>
          <a:bodyPr wrap="square" lIns="635" tIns="635" rIns="635" bIns="635" rtlCol="0" anchor="ctr"/>
          <a:lstStyle/>
          <a:p>
            <a:r>
              <a:t>BARIS BELAKANG</a:t>
            </a:r>
          </a:p>
        </p:txBody>
      </p:sp>
      <p:pic>
        <p:nvPicPr>
          <p:cNvPr id="7" name="Image 0" descr="/mnt/data/BACKROW_YCWC_2026_V4_WORK/BACKROW_YCWC_2026_V4/assets/hero_sourc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480560"/>
            <a:ext cx="1965960" cy="1097280"/>
          </a:xfrm>
          <a:prstGeom prst="rect">
            <a:avLst/>
          </a:prstGeom>
        </p:spPr>
      </p:pic>
      <p:pic>
        <p:nvPicPr>
          <p:cNvPr id="8" name="Image 1" descr="/mnt/data/BACKROW_YCWC_2026_V4_WORK/BACKROW_YCWC_2026_V4/assets/hero_audience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4480560"/>
            <a:ext cx="1965960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5650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011680" y="5650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670048" y="56509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3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767328" y="5733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INFORMASI KRITIS BERUBAH</a:t>
            </a:r>
          </a:p>
        </p:txBody>
      </p:sp>
      <p:sp>
        <p:nvSpPr>
          <p:cNvPr id="13" name="Shape 9"/>
          <p:cNvSpPr/>
          <p:nvPr/>
        </p:nvSpPr>
        <p:spPr>
          <a:xfrm>
            <a:off x="5486400" y="457200"/>
            <a:ext cx="6702552" cy="6080760"/>
          </a:xfrm>
          <a:prstGeom prst="rect">
            <a:avLst/>
          </a:prstGeom>
          <a:solidFill>
            <a:srgbClr val="DDE0DB"/>
          </a:solidFill>
          <a:ln w="12700">
            <a:solidFill>
              <a:srgbClr val="DDE0D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/mnt/data/BACKROW_YCWC_2026_V4_WORK/BACKROW_YCWC_2026_V4/assets/slide_2_view_ri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960120"/>
            <a:ext cx="6053328" cy="34015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15584" y="4498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TANGKAPAN PENONTON</a:t>
            </a:r>
          </a:p>
        </p:txBody>
      </p:sp>
      <p:sp>
        <p:nvSpPr>
          <p:cNvPr id="16" name="Text 11"/>
          <p:cNvSpPr/>
          <p:nvPr/>
        </p:nvSpPr>
        <p:spPr>
          <a:xfrm>
            <a:off x="5806440" y="48280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BACKROW</a:t>
            </a:r>
            <a:endParaRPr lang="en-US" sz="2500" dirty="0"/>
          </a:p>
        </p:txBody>
      </p:sp>
      <p:sp>
        <p:nvSpPr>
          <p:cNvPr id="17" name="Text 12"/>
          <p:cNvSpPr/>
          <p:nvPr/>
        </p:nvSpPr>
        <p:spPr>
          <a:xfrm>
            <a:off x="7680960" y="4882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menguji apa yang benar-benar sampai ke ruangan.</a:t>
            </a:r>
          </a:p>
        </p:txBody>
      </p:sp>
      <p:sp>
        <p:nvSpPr>
          <p:cNvPr id="18" name="Text 13"/>
          <p:cNvSpPr/>
          <p:nvPr/>
        </p:nvSpPr>
        <p:spPr>
          <a:xfrm>
            <a:off x="5824728" y="54864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website terintegrasi AI · bukti presisi · perbaiki → scan ulang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 / MASALAH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Masalahnya muncul setelah file slide selesai dibuat.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Pemeriksa file sumber dapat melewatkan masalah yang muncul di jalur tampilan fisik sebenarnya.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FILE SUMBER</a:t>
            </a:r>
          </a:p>
        </p:txBody>
      </p:sp>
      <p:sp>
        <p:nvSpPr>
          <p:cNvPr id="7" name="Text 5"/>
          <p:cNvSpPr/>
          <p:nvPr/>
        </p:nvSpPr>
        <p:spPr>
          <a:xfrm>
            <a:off x="841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sempurna di laptop</a:t>
            </a:r>
          </a:p>
        </p:txBody>
      </p:sp>
      <p:sp>
        <p:nvSpPr>
          <p:cNvPr id="8" name="Text 6"/>
          <p:cNvSpPr/>
          <p:nvPr/>
        </p:nvSpPr>
        <p:spPr>
          <a:xfrm>
            <a:off x="2395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08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PROYEKTOR</a:t>
            </a:r>
          </a:p>
        </p:txBody>
      </p:sp>
      <p:sp>
        <p:nvSpPr>
          <p:cNvPr id="11" name="Text 9"/>
          <p:cNvSpPr/>
          <p:nvPr/>
        </p:nvSpPr>
        <p:spPr>
          <a:xfrm>
            <a:off x="3127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fokus / skala</a:t>
            </a:r>
          </a:p>
        </p:txBody>
      </p:sp>
      <p:sp>
        <p:nvSpPr>
          <p:cNvPr id="12" name="Text 10"/>
          <p:cNvSpPr/>
          <p:nvPr/>
        </p:nvSpPr>
        <p:spPr>
          <a:xfrm>
            <a:off x="4681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03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94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RUANGAN</a:t>
            </a:r>
          </a:p>
        </p:txBody>
      </p:sp>
      <p:sp>
        <p:nvSpPr>
          <p:cNvPr id="15" name="Text 13"/>
          <p:cNvSpPr/>
          <p:nvPr/>
        </p:nvSpPr>
        <p:spPr>
          <a:xfrm>
            <a:off x="5413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cahaya / washout</a:t>
            </a:r>
          </a:p>
        </p:txBody>
      </p:sp>
      <p:sp>
        <p:nvSpPr>
          <p:cNvPr id="16" name="Text 14"/>
          <p:cNvSpPr/>
          <p:nvPr/>
        </p:nvSpPr>
        <p:spPr>
          <a:xfrm>
            <a:off x="6967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89520" y="25146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680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POSISI PENONTON</a:t>
            </a:r>
          </a:p>
        </p:txBody>
      </p:sp>
      <p:sp>
        <p:nvSpPr>
          <p:cNvPr id="19" name="Text 17"/>
          <p:cNvSpPr/>
          <p:nvPr/>
        </p:nvSpPr>
        <p:spPr>
          <a:xfrm>
            <a:off x="7699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jarak / sudut</a:t>
            </a:r>
          </a:p>
        </p:txBody>
      </p:sp>
      <p:sp>
        <p:nvSpPr>
          <p:cNvPr id="20" name="Text 18"/>
          <p:cNvSpPr/>
          <p:nvPr/>
        </p:nvSpPr>
        <p:spPr>
          <a:xfrm>
            <a:off x="92537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75520" y="2514600"/>
            <a:ext cx="1572768" cy="1051560"/>
          </a:xfrm>
          <a:prstGeom prst="rect">
            <a:avLst/>
          </a:prstGeom>
          <a:solidFill>
            <a:srgbClr val="101311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966960" y="26791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INFO YANG DITERIMA</a:t>
            </a:r>
          </a:p>
        </p:txBody>
      </p:sp>
      <p:sp>
        <p:nvSpPr>
          <p:cNvPr id="23" name="Text 21"/>
          <p:cNvSpPr/>
          <p:nvPr/>
        </p:nvSpPr>
        <p:spPr>
          <a:xfrm>
            <a:off x="9985248" y="30175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yang masih terbaca</a:t>
            </a:r>
          </a:p>
        </p:txBody>
      </p:sp>
      <p:sp>
        <p:nvSpPr>
          <p:cNvPr id="24" name="Text 22"/>
          <p:cNvSpPr/>
          <p:nvPr/>
        </p:nvSpPr>
        <p:spPr>
          <a:xfrm>
            <a:off x="749808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Pemeriksa file sumber menjawab: “Apakah file ini dirancang dengan baik?”</a:t>
            </a:r>
          </a:p>
        </p:txBody>
      </p:sp>
      <p:sp>
        <p:nvSpPr>
          <p:cNvPr id="25" name="Text 23"/>
          <p:cNvSpPr/>
          <p:nvPr/>
        </p:nvSpPr>
        <p:spPr>
          <a:xfrm>
            <a:off x="749808" y="4736592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BACKROW bertanya: “Informasi apa yang benar-benar diterima dari posisi penonton ini?”</a:t>
            </a:r>
          </a:p>
        </p:txBody>
      </p:sp>
      <p:sp>
        <p:nvSpPr>
          <p:cNvPr id="26" name="Text 24"/>
          <p:cNvSpPr/>
          <p:nvPr/>
        </p:nvSpPr>
        <p:spPr>
          <a:xfrm>
            <a:off x="749808" y="5742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SUMBER ≠ HASIL FISIK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 / PRODUK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Presenter tetap di depan. HP penonton menjadi observer baris belakang.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59536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MUAT DECK</a:t>
            </a:r>
          </a:p>
        </p:txBody>
      </p:sp>
      <p:sp>
        <p:nvSpPr>
          <p:cNvPr id="6" name="Text 4"/>
          <p:cNvSpPr/>
          <p:nvPr/>
        </p:nvSpPr>
        <p:spPr>
          <a:xfrm>
            <a:off x="859536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PDF / slide sekali</a:t>
            </a:r>
          </a:p>
        </p:txBody>
      </p:sp>
      <p:sp>
        <p:nvSpPr>
          <p:cNvPr id="7" name="Shape 5"/>
          <p:cNvSpPr/>
          <p:nvPr/>
        </p:nvSpPr>
        <p:spPr>
          <a:xfrm>
            <a:off x="2304288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68880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61488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HUBUNGKAN HP</a:t>
            </a:r>
          </a:p>
        </p:txBody>
      </p:sp>
      <p:sp>
        <p:nvSpPr>
          <p:cNvPr id="10" name="Text 8"/>
          <p:cNvSpPr/>
          <p:nvPr/>
        </p:nvSpPr>
        <p:spPr>
          <a:xfrm>
            <a:off x="2761488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pairing kode 6 digit</a:t>
            </a:r>
          </a:p>
        </p:txBody>
      </p:sp>
      <p:sp>
        <p:nvSpPr>
          <p:cNvPr id="11" name="Shape 9"/>
          <p:cNvSpPr/>
          <p:nvPr/>
        </p:nvSpPr>
        <p:spPr>
          <a:xfrm>
            <a:off x="4206240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70832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63440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CAPTURE</a:t>
            </a:r>
          </a:p>
        </p:txBody>
      </p:sp>
      <p:sp>
        <p:nvSpPr>
          <p:cNvPr id="14" name="Text 12"/>
          <p:cNvSpPr/>
          <p:nvPr/>
        </p:nvSpPr>
        <p:spPr>
          <a:xfrm>
            <a:off x="4663440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HP kirim pandangan penonton</a:t>
            </a:r>
          </a:p>
        </p:txBody>
      </p:sp>
      <p:sp>
        <p:nvSpPr>
          <p:cNvPr id="15" name="Shape 13"/>
          <p:cNvSpPr/>
          <p:nvPr/>
        </p:nvSpPr>
        <p:spPr>
          <a:xfrm>
            <a:off x="6108192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72784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565392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COCOKKAN</a:t>
            </a:r>
          </a:p>
        </p:txBody>
      </p:sp>
      <p:sp>
        <p:nvSpPr>
          <p:cNvPr id="18" name="Text 16"/>
          <p:cNvSpPr/>
          <p:nvPr/>
        </p:nvSpPr>
        <p:spPr>
          <a:xfrm>
            <a:off x="6565392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kenali + luruskan slide</a:t>
            </a:r>
          </a:p>
        </p:txBody>
      </p:sp>
      <p:sp>
        <p:nvSpPr>
          <p:cNvPr id="19" name="Shape 17"/>
          <p:cNvSpPr/>
          <p:nvPr/>
        </p:nvSpPr>
        <p:spPr>
          <a:xfrm>
            <a:off x="8010144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74736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467344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BUKTIKAN</a:t>
            </a:r>
          </a:p>
        </p:txBody>
      </p:sp>
      <p:sp>
        <p:nvSpPr>
          <p:cNvPr id="22" name="Text 20"/>
          <p:cNvSpPr/>
          <p:nvPr/>
        </p:nvSpPr>
        <p:spPr>
          <a:xfrm>
            <a:off x="8467344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info pulih / hilang persis</a:t>
            </a:r>
          </a:p>
        </p:txBody>
      </p:sp>
      <p:sp>
        <p:nvSpPr>
          <p:cNvPr id="23" name="Shape 21"/>
          <p:cNvSpPr/>
          <p:nvPr/>
        </p:nvSpPr>
        <p:spPr>
          <a:xfrm>
            <a:off x="9912096" y="2487168"/>
            <a:ext cx="256032" cy="0"/>
          </a:xfrm>
          <a:prstGeom prst="line">
            <a:avLst/>
          </a:prstGeom>
          <a:noFill/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76688" y="23317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369296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SCAN ULANG</a:t>
            </a:r>
          </a:p>
        </p:txBody>
      </p:sp>
      <p:sp>
        <p:nvSpPr>
          <p:cNvPr id="26" name="Text 24"/>
          <p:cNvSpPr/>
          <p:nvPr/>
        </p:nvSpPr>
        <p:spPr>
          <a:xfrm>
            <a:off x="10369296" y="25786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buktikan perbaikannya</a:t>
            </a:r>
          </a:p>
        </p:txBody>
      </p:sp>
      <p:pic>
        <p:nvPicPr>
          <p:cNvPr id="27" name="Image 0" descr="/mnt/data/BACKROW_YCWC_2026_V4_WORK/BACKROW_YCWC_2026_V4/preview/BACKROW_V4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46120"/>
            <a:ext cx="7040880" cy="285292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973568" y="3246120"/>
            <a:ext cx="3584448" cy="2852928"/>
          </a:xfrm>
          <a:prstGeom prst="rect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247888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OUTPUT ADALAH BUKTI,</a:t>
            </a:r>
          </a:p>
          <a:p>
            <a:r>
              <a:t>BUKAN SKOR AJAIB.</a:t>
            </a:r>
          </a:p>
        </p:txBody>
      </p:sp>
      <p:sp>
        <p:nvSpPr>
          <p:cNvPr id="30" name="Text 27"/>
          <p:cNvSpPr/>
          <p:nvPr/>
        </p:nvSpPr>
        <p:spPr>
          <a:xfrm>
            <a:off x="8522208" y="46177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region yang dilokalisasi ke sumber</a:t>
            </a:r>
          </a:p>
        </p:txBody>
      </p:sp>
      <p:sp>
        <p:nvSpPr>
          <p:cNvPr id="31" name="Shape 28"/>
          <p:cNvSpPr/>
          <p:nvPr/>
        </p:nvSpPr>
        <p:spPr>
          <a:xfrm>
            <a:off x="8229600" y="46908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522208" y="50749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decode penonton yang persis</a:t>
            </a:r>
          </a:p>
        </p:txBody>
      </p:sp>
      <p:sp>
        <p:nvSpPr>
          <p:cNvPr id="33" name="Shape 30"/>
          <p:cNvSpPr/>
          <p:nvPr/>
        </p:nvSpPr>
        <p:spPr>
          <a:xfrm>
            <a:off x="8229600" y="51480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8522208" y="5532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mengapa gagal</a:t>
            </a:r>
          </a:p>
        </p:txBody>
      </p:sp>
      <p:sp>
        <p:nvSpPr>
          <p:cNvPr id="35" name="Shape 32"/>
          <p:cNvSpPr/>
          <p:nvPr/>
        </p:nvSpPr>
        <p:spPr>
          <a:xfrm>
            <a:off x="8229600" y="56052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522208" y="59893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perbaiki + scan ulang dari kursi sama</a:t>
            </a:r>
          </a:p>
        </p:txBody>
      </p:sp>
      <p:sp>
        <p:nvSpPr>
          <p:cNvPr id="37" name="Shape 34"/>
          <p:cNvSpPr/>
          <p:nvPr/>
        </p:nvSpPr>
        <p:spPr>
          <a:xfrm>
            <a:off x="8229600" y="6062472"/>
            <a:ext cx="109728" cy="10972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04 / DEMO LANGSUNG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Juri dapat memakai HP dari posisi penonton yang sebenarnya.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2212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SUMBER</a:t>
            </a:r>
          </a:p>
        </p:txBody>
      </p:sp>
      <p:sp>
        <p:nvSpPr>
          <p:cNvPr id="5" name="Text 3"/>
          <p:cNvSpPr/>
          <p:nvPr/>
        </p:nvSpPr>
        <p:spPr>
          <a:xfrm>
            <a:off x="630936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PANDANGAN PENONTON</a:t>
            </a:r>
          </a:p>
        </p:txBody>
      </p:sp>
      <p:pic>
        <p:nvPicPr>
          <p:cNvPr id="6" name="Image 0" descr="/mnt/data/BACKROW_YCWC_2026_V4_WORK/BACKROW_YCWC_2026_V4/assets/slide_2_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14600"/>
            <a:ext cx="5074920" cy="2852928"/>
          </a:xfrm>
          <a:prstGeom prst="rect">
            <a:avLst/>
          </a:prstGeom>
        </p:spPr>
      </p:pic>
      <p:pic>
        <p:nvPicPr>
          <p:cNvPr id="7" name="Image 1" descr="/mnt/data/BACKROW_YCWC_2026_V4_WORK/BACKROW_YCWC_2026_V4/assets/slide_2_view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14600"/>
            <a:ext cx="5074920" cy="2852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" y="5577840"/>
            <a:ext cx="10725912" cy="566928"/>
          </a:xfrm>
          <a:prstGeom prst="rect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658368" y="5577840"/>
            <a:ext cx="1097280" cy="566928"/>
          </a:xfrm>
          <a:prstGeom prst="rect">
            <a:avLst/>
          </a:prstGeom>
          <a:solidFill>
            <a:srgbClr val="E23A2E"/>
          </a:solidFill>
          <a:ln w="12700">
            <a:solidFill>
              <a:srgbClr val="E23A2E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49808" y="5760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BERISIKO</a:t>
            </a:r>
          </a:p>
        </p:txBody>
      </p:sp>
      <p:sp>
        <p:nvSpPr>
          <p:cNvPr id="11" name="Text 7"/>
          <p:cNvSpPr/>
          <p:nvPr/>
        </p:nvSpPr>
        <p:spPr>
          <a:xfrm>
            <a:off x="1993392" y="5687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 → 25%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877056" y="57424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nilai kritis berubah persis</a:t>
            </a:r>
          </a:p>
        </p:txBody>
      </p:sp>
      <p:sp>
        <p:nvSpPr>
          <p:cNvPr id="13" name="Text 9"/>
          <p:cNvSpPr/>
          <p:nvPr/>
        </p:nvSpPr>
        <p:spPr>
          <a:xfrm>
            <a:off x="8778240" y="57607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TANPA NOMOR HALAMAN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05 / ARSITEKTUR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Mana yang AI — dan mana yang bukan.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Proyek memisahkan model kustom, AI pretrained, computer vision klasik, dan logika keselamatan deterministik.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2496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AI KUSTOM</a:t>
            </a:r>
          </a:p>
        </p:txBody>
      </p:sp>
      <p:sp>
        <p:nvSpPr>
          <p:cNvPr id="6" name="Text 4"/>
          <p:cNvSpPr/>
          <p:nvPr/>
        </p:nvSpPr>
        <p:spPr>
          <a:xfrm>
            <a:off x="1993392" y="2423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AudienceNet 2.0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74920" y="2441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48 → 24 MLP · 16 fitur pasangan sumber/kamera/ruangan</a:t>
            </a:r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32826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AI PRETRAINED</a:t>
            </a:r>
          </a:p>
        </p:txBody>
      </p:sp>
      <p:sp>
        <p:nvSpPr>
          <p:cNvPr id="10" name="Text 8"/>
          <p:cNvSpPr/>
          <p:nvPr/>
        </p:nvSpPr>
        <p:spPr>
          <a:xfrm>
            <a:off x="1993392" y="3209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Tesseract 5 LSTM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32278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pemulihan teks + angka presisi · pihak ketiga</a:t>
            </a:r>
          </a:p>
        </p:txBody>
      </p:sp>
      <p:sp>
        <p:nvSpPr>
          <p:cNvPr id="12" name="Shape 10"/>
          <p:cNvSpPr/>
          <p:nvPr/>
        </p:nvSpPr>
        <p:spPr>
          <a:xfrm>
            <a:off x="658368" y="3739896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40690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CV KLASIK</a:t>
            </a:r>
          </a:p>
        </p:txBody>
      </p:sp>
      <p:sp>
        <p:nvSpPr>
          <p:cNvPr id="14" name="Text 12"/>
          <p:cNvSpPr/>
          <p:nvPr/>
        </p:nvSpPr>
        <p:spPr>
          <a:xfrm>
            <a:off x="1993392" y="39959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 + RANSAC + homography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74920" y="40142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pencarian halaman · verifikasi geometri · rectification</a:t>
            </a:r>
          </a:p>
        </p:txBody>
      </p:sp>
      <p:sp>
        <p:nvSpPr>
          <p:cNvPr id="16" name="Shape 14"/>
          <p:cNvSpPr/>
          <p:nvPr/>
        </p:nvSpPr>
        <p:spPr>
          <a:xfrm>
            <a:off x="658368" y="4526280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48554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DETERMINISTIK</a:t>
            </a:r>
          </a:p>
        </p:txBody>
      </p:sp>
      <p:sp>
        <p:nvSpPr>
          <p:cNvPr id="18" name="Text 16"/>
          <p:cNvSpPr/>
          <p:nvPr/>
        </p:nvSpPr>
        <p:spPr>
          <a:xfrm>
            <a:off x="1993392" y="4782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pengaman angka + fusi bukti</a:t>
            </a:r>
          </a:p>
        </p:txBody>
      </p:sp>
      <p:sp>
        <p:nvSpPr>
          <p:cNvPr id="19" name="Text 17"/>
          <p:cNvSpPr/>
          <p:nvPr/>
        </p:nvSpPr>
        <p:spPr>
          <a:xfrm>
            <a:off x="5074920" y="48006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kontradiksi keras mengalahkan ketidakpastian model</a:t>
            </a:r>
          </a:p>
        </p:txBody>
      </p:sp>
      <p:sp>
        <p:nvSpPr>
          <p:cNvPr id="20" name="Shape 18"/>
          <p:cNvSpPr/>
          <p:nvPr/>
        </p:nvSpPr>
        <p:spPr>
          <a:xfrm>
            <a:off x="658368" y="5312664"/>
            <a:ext cx="10716768" cy="0"/>
          </a:xfrm>
          <a:prstGeom prst="line">
            <a:avLst/>
          </a:prstGeom>
          <a:noFill/>
          <a:ln w="7620">
            <a:solidFill>
              <a:srgbClr val="C6C9C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" y="5806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AI adalah inti, tetapi tidak boleh menghapus bukti langsung.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 / FAIL-SAFE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Bukti keras mengalahkan confidence model.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solidFill>
            <a:srgbClr val="E23A2E"/>
          </a:solidFill>
          <a:ln w="12700">
            <a:solidFill>
              <a:srgbClr val="E23A2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3682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08760" y="226771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KEHILANGAN PRESISI TERVERIFIKASI</a:t>
            </a:r>
          </a:p>
        </p:txBody>
      </p:sp>
      <p:sp>
        <p:nvSpPr>
          <p:cNvPr id="7" name="Text 5"/>
          <p:cNvSpPr/>
          <p:nvPr/>
        </p:nvSpPr>
        <p:spPr>
          <a:xfrm>
            <a:off x="4709160" y="22585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sumber 2.5%  ≠  penonton 25%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27980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502920" cy="502920"/>
          </a:xfrm>
          <a:prstGeom prst="rect">
            <a:avLst/>
          </a:prstGeom>
          <a:solidFill>
            <a:srgbClr val="0B0D0C"/>
          </a:solidFill>
          <a:ln w="12700">
            <a:solidFill>
              <a:srgbClr val="0B0D0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209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31089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BUKTI OCR / REGION KUAT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30998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konten pulih atau hilang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36393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922776"/>
            <a:ext cx="502920" cy="502920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050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9502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AUDIENCENET</a:t>
            </a:r>
          </a:p>
        </p:txBody>
      </p:sp>
      <p:sp>
        <p:nvSpPr>
          <p:cNvPr id="17" name="Text 15"/>
          <p:cNvSpPr/>
          <p:nvPr/>
        </p:nvSpPr>
        <p:spPr>
          <a:xfrm>
            <a:off x="4709160" y="3941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bukti survivability dari model</a:t>
            </a:r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764024"/>
            <a:ext cx="502920" cy="502920"/>
          </a:xfrm>
          <a:prstGeom prst="rect">
            <a:avLst/>
          </a:prstGeom>
          <a:solidFill>
            <a:srgbClr val="68716B"/>
          </a:solidFill>
          <a:ln w="12700">
            <a:solidFill>
              <a:srgbClr val="6871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8920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479145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HEURISTIK LEMAH</a:t>
            </a:r>
          </a:p>
        </p:txBody>
      </p:sp>
      <p:sp>
        <p:nvSpPr>
          <p:cNvPr id="22" name="Text 20"/>
          <p:cNvSpPr/>
          <p:nvPr/>
        </p:nvSpPr>
        <p:spPr>
          <a:xfrm>
            <a:off x="4709160" y="4782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dukungan blur / kontras / silau</a:t>
            </a:r>
          </a:p>
        </p:txBody>
      </p:sp>
      <p:sp>
        <p:nvSpPr>
          <p:cNvPr id="23" name="Shape 21"/>
          <p:cNvSpPr/>
          <p:nvPr/>
        </p:nvSpPr>
        <p:spPr>
          <a:xfrm>
            <a:off x="731520" y="5577840"/>
            <a:ext cx="10561320" cy="502920"/>
          </a:xfrm>
          <a:prstGeom prst="rect">
            <a:avLst/>
          </a:prstGeom>
          <a:solidFill>
            <a:srgbClr val="E7E8E4"/>
          </a:solidFill>
          <a:ln w="12700">
            <a:solidFill>
              <a:srgbClr val="C1C5C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573328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Jika identitas slide / geometri / bukti tidak cukup → BUKTI BELUM CUKUP.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07 / PRIOR ART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Klaimnya sengaja dibuat sempit.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Readability bukan hal baru. Evaluasi projector-camera juga bukan hal baru. Kontribusinya adalah integrasi workflow.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2011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3736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KETERBACAAN RUANG KULIAH</a:t>
            </a:r>
          </a:p>
        </p:txBody>
      </p:sp>
      <p:sp>
        <p:nvSpPr>
          <p:cNvPr id="7" name="Text 5"/>
          <p:cNvSpPr/>
          <p:nvPr/>
        </p:nvSpPr>
        <p:spPr>
          <a:xfrm>
            <a:off x="4754880" y="2395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 · Kim · Green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86600" y="23865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geometri + teks + cahaya + ketajaman penglihatan</a:t>
            </a:r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2017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KUALITAS KONTEN PROYEKSI</a:t>
            </a:r>
          </a:p>
        </p:txBody>
      </p:sp>
      <p:sp>
        <p:nvSpPr>
          <p:cNvPr id="12" name="Text 10"/>
          <p:cNvSpPr/>
          <p:nvPr/>
        </p:nvSpPr>
        <p:spPr>
          <a:xfrm>
            <a:off x="4754880" y="31455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· Marshall · Doan · Mai · Liu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86600" y="3136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sumber + tangkapan kamera + rectification + kualitas learned</a:t>
            </a:r>
          </a:p>
        </p:txBody>
      </p:sp>
      <p:sp>
        <p:nvSpPr>
          <p:cNvPr id="14" name="Shape 12"/>
          <p:cNvSpPr/>
          <p:nvPr/>
        </p:nvSpPr>
        <p:spPr>
          <a:xfrm>
            <a:off x="685800" y="3584448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16B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37360" y="3877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KETERBACAAN FILE SUMBER</a:t>
            </a:r>
          </a:p>
        </p:txBody>
      </p:sp>
      <p:sp>
        <p:nvSpPr>
          <p:cNvPr id="17" name="Text 15"/>
          <p:cNvSpPr/>
          <p:nvPr/>
        </p:nvSpPr>
        <p:spPr>
          <a:xfrm>
            <a:off x="4754880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SlideSpeak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8660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ukuran font + kontras + kepadatan + kompleksitas bahasa</a:t>
            </a:r>
          </a:p>
        </p:txBody>
      </p:sp>
      <p:sp>
        <p:nvSpPr>
          <p:cNvPr id="19" name="Shape 17"/>
          <p:cNvSpPr/>
          <p:nvPr/>
        </p:nvSpPr>
        <p:spPr>
          <a:xfrm>
            <a:off x="685800" y="4334256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4645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B4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BACKROW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37360" y="4626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QA JALUR PENONTON</a:t>
            </a:r>
          </a:p>
        </p:txBody>
      </p:sp>
      <p:sp>
        <p:nvSpPr>
          <p:cNvPr id="22" name="Text 20"/>
          <p:cNvSpPr/>
          <p:nvPr/>
        </p:nvSpPr>
        <p:spPr>
          <a:xfrm>
            <a:off x="4754880" y="4645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proyek ini</a:t>
            </a:r>
          </a:p>
        </p:txBody>
      </p:sp>
      <p:sp>
        <p:nvSpPr>
          <p:cNvPr id="23" name="Text 21"/>
          <p:cNvSpPr/>
          <p:nvPr/>
        </p:nvSpPr>
        <p:spPr>
          <a:xfrm>
            <a:off x="7086600" y="4636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auto-match + kehilangan presisi + repair/rescan + field test blind</a:t>
            </a:r>
          </a:p>
        </p:txBody>
      </p:sp>
      <p:sp>
        <p:nvSpPr>
          <p:cNvPr id="24" name="Shape 22"/>
          <p:cNvSpPr/>
          <p:nvPr/>
        </p:nvSpPr>
        <p:spPr>
          <a:xfrm>
            <a:off x="685800" y="5084064"/>
            <a:ext cx="10698480" cy="0"/>
          </a:xfrm>
          <a:prstGeom prst="line">
            <a:avLst/>
          </a:prstGeom>
          <a:noFill/>
          <a:ln w="6350">
            <a:solidFill>
              <a:srgbClr val="C5C8C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56692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NOVELTY DEFENSIBLE: WORKFLOW TERAPAN N3–N4</a:t>
            </a:r>
          </a:p>
        </p:txBody>
      </p:sp>
      <p:sp>
        <p:nvSpPr>
          <p:cNvPr id="26" name="Text 24"/>
          <p:cNvSpPr/>
          <p:nvPr/>
        </p:nvSpPr>
        <p:spPr>
          <a:xfrm>
            <a:off x="8915400" y="5650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Tanpa klaim “world first”.</a:t>
            </a:r>
          </a:p>
        </p:txBody>
      </p:sp>
      <p:sp>
        <p:nvSpPr>
          <p:cNvPr id="27" name="Text 25"/>
          <p:cNvSpPr/>
          <p:nvPr/>
        </p:nvSpPr>
        <p:spPr>
          <a:xfrm>
            <a:off x="685800" y="6108192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Sumber: Cai et al. 2011 · Le et al. CRV 2017 · checker SlideSpeak saat ini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08 / BUKTI ENGINEERING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Model kustom mengalahkan baseline sederhana — pada task procedural yang dinyatakan.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1773936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Angka ini bukan akurasi keterbacaan manusia.</a:t>
            </a:r>
          </a:p>
        </p:txBody>
      </p:sp>
      <p:sp>
        <p:nvSpPr>
          <p:cNvPr id="5" name="Text 3"/>
          <p:cNvSpPr/>
          <p:nvPr/>
        </p:nvSpPr>
        <p:spPr>
          <a:xfrm>
            <a:off x="1005840" y="2807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aturan sinyal</a:t>
            </a:r>
          </a:p>
        </p:txBody>
      </p:sp>
      <p:sp>
        <p:nvSpPr>
          <p:cNvPr id="6" name="Shape 4"/>
          <p:cNvSpPr/>
          <p:nvPr/>
        </p:nvSpPr>
        <p:spPr>
          <a:xfrm>
            <a:off x="2834640" y="2743200"/>
            <a:ext cx="3115397" cy="347472"/>
          </a:xfrm>
          <a:prstGeom prst="rect">
            <a:avLst/>
          </a:prstGeom>
          <a:solidFill>
            <a:srgbClr val="68716B"/>
          </a:solidFill>
          <a:ln w="12700">
            <a:solidFill>
              <a:srgbClr val="6871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59765" y="278892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0.4056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geometri</a:t>
            </a:r>
          </a:p>
        </p:txBody>
      </p:sp>
      <p:sp>
        <p:nvSpPr>
          <p:cNvPr id="9" name="Shape 7"/>
          <p:cNvSpPr/>
          <p:nvPr/>
        </p:nvSpPr>
        <p:spPr>
          <a:xfrm>
            <a:off x="2834640" y="3547872"/>
            <a:ext cx="3678412" cy="347472"/>
          </a:xfrm>
          <a:prstGeom prst="rect">
            <a:avLst/>
          </a:prstGeom>
          <a:solidFill>
            <a:srgbClr val="A97500"/>
          </a:solidFill>
          <a:ln w="12700">
            <a:solidFill>
              <a:srgbClr val="A975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2780" y="35935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0.4789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AudienceNet 2.0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4352544"/>
            <a:ext cx="7237001" cy="34747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181369" y="43982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0D0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0.9422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" y="5303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1.440 sampel · 48 family template · split family group-disjoint</a:t>
            </a:r>
          </a:p>
        </p:txBody>
      </p:sp>
      <p:sp>
        <p:nvSpPr>
          <p:cNvPr id="15" name="Text 13"/>
          <p:cNvSpPr/>
          <p:nvPr/>
        </p:nvSpPr>
        <p:spPr>
          <a:xfrm>
            <a:off x="8915400" y="26151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15400" y="3163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kasus alignment hasil generate</a:t>
            </a:r>
          </a:p>
        </p:txBody>
      </p:sp>
      <p:sp>
        <p:nvSpPr>
          <p:cNvPr id="17" name="Text 15"/>
          <p:cNvSpPr/>
          <p:nvPr/>
        </p:nvSpPr>
        <p:spPr>
          <a:xfrm>
            <a:off x="8915400" y="37307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D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1540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kecocokan deck bawaan</a:t>
            </a:r>
          </a:p>
        </p:txBody>
      </p:sp>
      <p:sp>
        <p:nvSpPr>
          <p:cNvPr id="19" name="Text 17"/>
          <p:cNvSpPr/>
          <p:nvPr/>
        </p:nvSpPr>
        <p:spPr>
          <a:xfrm>
            <a:off x="8915400" y="4846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→ 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915400" y="5394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region risiko setelah perbaikan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09 / VALIDASI FISIK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Gap kamera-manusia diukur, bukan diasumsikan.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ACAK</a:t>
            </a:r>
          </a:p>
        </p:txBody>
      </p:sp>
      <p:sp>
        <p:nvSpPr>
          <p:cNvPr id="7" name="Shape 5"/>
          <p:cNvSpPr/>
          <p:nvPr/>
        </p:nvSpPr>
        <p:spPr>
          <a:xfrm>
            <a:off x="121615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80360" y="2331720"/>
            <a:ext cx="438912" cy="438912"/>
          </a:xfrm>
          <a:prstGeom prst="ellipse">
            <a:avLst/>
          </a:prstGeom>
          <a:solidFill>
            <a:srgbClr val="E23A2E"/>
          </a:solidFill>
          <a:ln w="12700">
            <a:solidFill>
              <a:srgbClr val="E23A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036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TAMPIL 6 dtk</a:t>
            </a:r>
          </a:p>
        </p:txBody>
      </p:sp>
      <p:sp>
        <p:nvSpPr>
          <p:cNvPr id="11" name="Shape 9"/>
          <p:cNvSpPr/>
          <p:nvPr/>
        </p:nvSpPr>
        <p:spPr>
          <a:xfrm>
            <a:off x="336499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9204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SEMBUNYIKAN</a:t>
            </a:r>
          </a:p>
        </p:txBody>
      </p:sp>
      <p:sp>
        <p:nvSpPr>
          <p:cNvPr id="15" name="Shape 13"/>
          <p:cNvSpPr/>
          <p:nvPr/>
        </p:nvSpPr>
        <p:spPr>
          <a:xfrm>
            <a:off x="551383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17804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7804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04088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PEMBACA MENGETIK</a:t>
            </a:r>
          </a:p>
        </p:txBody>
      </p:sp>
      <p:sp>
        <p:nvSpPr>
          <p:cNvPr id="19" name="Shape 17"/>
          <p:cNvSpPr/>
          <p:nvPr/>
        </p:nvSpPr>
        <p:spPr>
          <a:xfrm>
            <a:off x="7662672" y="2551176"/>
            <a:ext cx="1600200" cy="0"/>
          </a:xfrm>
          <a:prstGeom prst="line">
            <a:avLst/>
          </a:prstGeom>
          <a:noFill/>
          <a:ln w="12700">
            <a:solidFill>
              <a:srgbClr val="ADB3A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326880" y="2331720"/>
            <a:ext cx="438912" cy="438912"/>
          </a:xfrm>
          <a:prstGeom prst="ellipse">
            <a:avLst/>
          </a:prstGeom>
          <a:solidFill>
            <a:srgbClr val="101311"/>
          </a:solidFill>
          <a:ln w="12700">
            <a:solidFill>
              <a:srgbClr val="10131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0" y="24505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189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KUNCI JAWABAN</a:t>
            </a:r>
          </a:p>
        </p:txBody>
      </p:sp>
      <p:pic>
        <p:nvPicPr>
          <p:cNvPr id="23" name="Image 0" descr="/mnt/data/BACKROW_YCWC_2026_V4_WORK/BACKROW_YCWC_2026_V4/preview/BACKROW_FIELD_STUDY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0"/>
            <a:ext cx="5074920" cy="2286000"/>
          </a:xfrm>
          <a:prstGeom prst="rect">
            <a:avLst/>
          </a:prstGeom>
        </p:spPr>
      </p:pic>
      <p:pic>
        <p:nvPicPr>
          <p:cNvPr id="24" name="Image 1" descr="/mnt/data/BACKROW_YCWC_2026_V4_WORK/BACKROW_YCWC_2026_V4/preview/BACKROW_FIELD_STUDY_R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3429000"/>
            <a:ext cx="5074920" cy="2286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1520" y="5852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PRESENTER / KONTROL TRUTH</a:t>
            </a:r>
          </a:p>
        </p:txBody>
      </p:sp>
      <p:sp>
        <p:nvSpPr>
          <p:cNvPr id="26" name="Text 22"/>
          <p:cNvSpPr/>
          <p:nvPr/>
        </p:nvSpPr>
        <p:spPr>
          <a:xfrm>
            <a:off x="6236208" y="5852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PEMBACA BLIND</a:t>
            </a:r>
          </a:p>
        </p:txBody>
      </p:sp>
      <p:sp>
        <p:nvSpPr>
          <p:cNvPr id="27" name="Text 23"/>
          <p:cNvSpPr/>
          <p:nvPr/>
        </p:nvSpPr>
        <p:spPr>
          <a:xfrm>
            <a:off x="7269480" y="58430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Sumber asli tidak pernah muncul di payload peserta sebelum jawaban dikirim.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 / AKSI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Temukan. Perbaiki. Buktikan.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SEBELUM</a:t>
            </a:r>
          </a:p>
        </p:txBody>
      </p:sp>
      <p:sp>
        <p:nvSpPr>
          <p:cNvPr id="5" name="Text 3"/>
          <p:cNvSpPr/>
          <p:nvPr/>
        </p:nvSpPr>
        <p:spPr>
          <a:xfrm>
            <a:off x="6355080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SESUDAH</a:t>
            </a:r>
          </a:p>
        </p:txBody>
      </p:sp>
      <p:pic>
        <p:nvPicPr>
          <p:cNvPr id="6" name="Image 0" descr="/mnt/data/BACKROW_YCWC_2026_V4_WORK/BACKROW_YCWC_2026_V4/assets/slide_2_view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23744"/>
            <a:ext cx="5074920" cy="2852928"/>
          </a:xfrm>
          <a:prstGeom prst="rect">
            <a:avLst/>
          </a:prstGeom>
        </p:spPr>
      </p:pic>
      <p:pic>
        <p:nvPicPr>
          <p:cNvPr id="7" name="Image 1" descr="/mnt/data/BACKROW_YCWC_2026_V4_WORK/BACKROW_YCWC_2026_V4/assets/slide_2_view_fix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23744"/>
            <a:ext cx="5074920" cy="2852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5577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 BERISIKO</a:t>
            </a:r>
          </a:p>
        </p:txBody>
      </p:sp>
      <p:sp>
        <p:nvSpPr>
          <p:cNvPr id="9" name="Text 5"/>
          <p:cNvSpPr/>
          <p:nvPr/>
        </p:nvSpPr>
        <p:spPr>
          <a:xfrm>
            <a:off x="5458968" y="5559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55080" y="5577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 BERISIKO</a:t>
            </a:r>
          </a:p>
        </p:txBody>
      </p:sp>
      <p:sp>
        <p:nvSpPr>
          <p:cNvPr id="11" name="Text 7"/>
          <p:cNvSpPr/>
          <p:nvPr/>
        </p:nvSpPr>
        <p:spPr>
          <a:xfrm>
            <a:off x="8001000" y="5568696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Produk ini bukan skor. Ini loop perbaikan yang bisa diverifikasi.</a:t>
            </a:r>
          </a:p>
        </p:txBody>
      </p:sp>
      <p:sp>
        <p:nvSpPr>
          <p:cNvPr id="12" name="Text 8"/>
          <p:cNvSpPr/>
          <p:nvPr/>
        </p:nvSpPr>
        <p:spPr>
          <a:xfrm>
            <a:off x="658368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PILIH SATU SLIDE.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84048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8716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YCWC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BACKROW — Baris paling belakang masih bisa membaca?</dc:title>
  <dc:subject>YCWC 2026 Senior — BACKROW — Bahasa Indonesia</dc:subject>
  <dc:creator>BACKROW</dc:creator>
  <cp:lastModifiedBy>BACKROW</cp:lastModifiedBy>
  <cp:revision>1</cp:revision>
  <dcterms:created xsi:type="dcterms:W3CDTF">2026-09-10T00:38:31Z</dcterms:created>
  <dcterms:modified xsi:type="dcterms:W3CDTF">2026-09-10T00:38:31Z</dcterms:modified>
</cp:coreProperties>
</file>