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2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"/>
            <a:ext cx="12191695" cy="0"/>
          </a:xfrm>
          <a:prstGeom prst="line">
            <a:avLst/>
          </a:prstGeom>
          <a:noFill/>
          <a:ln w="9525">
            <a:solidFill>
              <a:srgbClr val="0B0D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BACKROW / YCWC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46920" y="11887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10" kern="0" dirty="0">
                <a:solidFill>
                  <a:srgbClr val="687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AUDIENCE-VIEW PRESENTATION QA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6350">
            <a:solidFill>
              <a:srgbClr val="0B0D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6601968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87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Camera evidence is not a human-eyesight claim.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84048" y="658368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8716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84048" y="658368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8716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132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68716B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01 / PHYSICAL FAILURE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48920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the last row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still read it?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85216" y="278892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54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audience never sees the source file. They see what survives distance, projection, focus, lighting, and perspective.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4160520"/>
            <a:ext cx="914400" cy="256032"/>
          </a:xfrm>
          <a:prstGeom prst="rect">
            <a:avLst/>
          </a:prstGeom>
          <a:solidFill>
            <a:srgbClr val="F2F2ED"/>
          </a:solidFill>
          <a:ln w="8890">
            <a:solidFill>
              <a:srgbClr val="0B0D0C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670048" y="4160520"/>
            <a:ext cx="1143000" cy="256032"/>
          </a:xfrm>
          <a:prstGeom prst="rect">
            <a:avLst/>
          </a:prstGeom>
          <a:solidFill>
            <a:srgbClr val="F2F2ED"/>
          </a:solidFill>
          <a:ln w="8890">
            <a:solidFill>
              <a:srgbClr val="0B0D0C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 ROW</a:t>
            </a:r>
            <a:endParaRPr lang="en-US" sz="750" dirty="0"/>
          </a:p>
        </p:txBody>
      </p:sp>
      <p:pic>
        <p:nvPicPr>
          <p:cNvPr id="7" name="Image 0" descr="/mnt/data/BACKROW_YCWC_2026_V4_WORK/BACKROW_YCWC_2026_V4/assets/hero_source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480560"/>
            <a:ext cx="1965960" cy="1097280"/>
          </a:xfrm>
          <a:prstGeom prst="rect">
            <a:avLst/>
          </a:prstGeom>
        </p:spPr>
      </p:pic>
      <p:pic>
        <p:nvPicPr>
          <p:cNvPr id="8" name="Image 1" descr="/mnt/data/BACKROW_YCWC_2026_V4_WORK/BACKROW_YCWC_2026_V4/assets/hero_audience_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48" y="4480560"/>
            <a:ext cx="1965960" cy="10972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56509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2.5%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2011680" y="56509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3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2670048" y="56509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3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25%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3767328" y="573328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80" kern="0" dirty="0">
                <a:solidFill>
                  <a:srgbClr val="E23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INFORMATION CHANGED</a:t>
            </a:r>
            <a:endParaRPr lang="en-US" sz="650" dirty="0"/>
          </a:p>
        </p:txBody>
      </p:sp>
      <p:sp>
        <p:nvSpPr>
          <p:cNvPr id="13" name="Shape 9"/>
          <p:cNvSpPr/>
          <p:nvPr/>
        </p:nvSpPr>
        <p:spPr>
          <a:xfrm>
            <a:off x="5486400" y="457200"/>
            <a:ext cx="6702552" cy="6080760"/>
          </a:xfrm>
          <a:prstGeom prst="rect">
            <a:avLst/>
          </a:prstGeom>
          <a:solidFill>
            <a:srgbClr val="DDE0DB"/>
          </a:solidFill>
          <a:ln w="12700">
            <a:solidFill>
              <a:srgbClr val="DDE0DB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/mnt/data/BACKROW_YCWC_2026_V4_WORK/BACKROW_YCWC_2026_V4/assets/slide_2_view_ri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960120"/>
            <a:ext cx="6053328" cy="34015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15584" y="44988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687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 CAPTURE</a:t>
            </a:r>
            <a:endParaRPr lang="en-US" sz="680" dirty="0"/>
          </a:p>
        </p:txBody>
      </p:sp>
      <p:sp>
        <p:nvSpPr>
          <p:cNvPr id="16" name="Text 11"/>
          <p:cNvSpPr/>
          <p:nvPr/>
        </p:nvSpPr>
        <p:spPr>
          <a:xfrm>
            <a:off x="5806440" y="482803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BACKROW</a:t>
            </a:r>
            <a:endParaRPr lang="en-US" sz="2500" dirty="0"/>
          </a:p>
        </p:txBody>
      </p:sp>
      <p:sp>
        <p:nvSpPr>
          <p:cNvPr id="17" name="Text 12"/>
          <p:cNvSpPr/>
          <p:nvPr/>
        </p:nvSpPr>
        <p:spPr>
          <a:xfrm>
            <a:off x="7680960" y="48828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what the room delivered.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5824728" y="548640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6B4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AI-integrated website · exact evidence · fix → rescan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84048" y="658368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8716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94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6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failure happens after the slide file.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773936"/>
            <a:ext cx="10515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54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source-side checker can miss a problem introduced by the actual display path.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514600"/>
            <a:ext cx="15727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B0D0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679192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FILE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" y="301752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87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perfect on laptop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395728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6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017520" y="2514600"/>
            <a:ext cx="15727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B0D0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108960" y="2679192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PROJECTOR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127248" y="301752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87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/ scale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681728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6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303520" y="2514600"/>
            <a:ext cx="15727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B0D0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394960" y="2679192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13248" y="301752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87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 / washout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967728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6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589520" y="2514600"/>
            <a:ext cx="15727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B0D0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680960" y="2679192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 POSITION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699248" y="301752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87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distance / angle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253728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6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875520" y="2514600"/>
            <a:ext cx="1572768" cy="1051560"/>
          </a:xfrm>
          <a:prstGeom prst="rect">
            <a:avLst/>
          </a:prstGeom>
          <a:solidFill>
            <a:srgbClr val="101311"/>
          </a:solidFill>
          <a:ln w="12700">
            <a:solidFill>
              <a:srgbClr val="0B0D0C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966960" y="2679192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RECEIVED INFO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985248" y="301752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D6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survives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49808" y="40690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source checks answer: “Is the file designed well?”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9808" y="4736592"/>
            <a:ext cx="9875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6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BACKROW asks: “What exact information did this audience position actually receive?”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9808" y="57424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16B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SOURCE ≠ PHYSICAL DELIVERY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84048" y="658368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8716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94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6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PRODUCT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 stays at the front. The audience phone becomes the back-row observer.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233172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6B4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59536" y="22677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DECK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9536" y="257860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87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/ slide once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304288" y="2487168"/>
            <a:ext cx="256032" cy="0"/>
          </a:xfrm>
          <a:prstGeom prst="line">
            <a:avLst/>
          </a:prstGeom>
          <a:noFill/>
          <a:ln w="12700">
            <a:solidFill>
              <a:srgbClr val="006B4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468880" y="233172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6B4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2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761488" y="22677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PAIR PHONE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61488" y="257860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87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6-digit audience pairing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06240" y="2487168"/>
            <a:ext cx="256032" cy="0"/>
          </a:xfrm>
          <a:prstGeom prst="line">
            <a:avLst/>
          </a:prstGeom>
          <a:noFill/>
          <a:ln w="12700">
            <a:solidFill>
              <a:srgbClr val="006B4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370832" y="233172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6B4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3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663440" y="22677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0" y="257860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87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 sends audience view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08192" y="2487168"/>
            <a:ext cx="256032" cy="0"/>
          </a:xfrm>
          <a:prstGeom prst="line">
            <a:avLst/>
          </a:prstGeom>
          <a:noFill/>
          <a:ln w="12700">
            <a:solidFill>
              <a:srgbClr val="006B4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272784" y="233172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6B4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4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565392" y="22677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65392" y="257860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87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+ rectify slide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010144" y="2487168"/>
            <a:ext cx="256032" cy="0"/>
          </a:xfrm>
          <a:prstGeom prst="line">
            <a:avLst/>
          </a:prstGeom>
          <a:noFill/>
          <a:ln w="12700">
            <a:solidFill>
              <a:srgbClr val="006B4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174736" y="233172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6B4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5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8467344" y="22677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67344" y="257860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87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 / lose exact info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912096" y="2487168"/>
            <a:ext cx="256032" cy="0"/>
          </a:xfrm>
          <a:prstGeom prst="line">
            <a:avLst/>
          </a:prstGeom>
          <a:noFill/>
          <a:ln w="12700">
            <a:solidFill>
              <a:srgbClr val="006B4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076688" y="233172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6B4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6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369296" y="22677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RESCAN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369296" y="257860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87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the repair</a:t>
            </a:r>
            <a:endParaRPr lang="en-US" sz="800" dirty="0"/>
          </a:p>
        </p:txBody>
      </p:sp>
      <p:pic>
        <p:nvPicPr>
          <p:cNvPr id="27" name="Image 0" descr="/mnt/data/BACKROW_YCWC_2026_V4_WORK/BACKROW_YCWC_2026_V4/preview/BACKROW_V4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246120"/>
            <a:ext cx="7040880" cy="2852928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7973568" y="3246120"/>
            <a:ext cx="3584448" cy="2852928"/>
          </a:xfrm>
          <a:prstGeom prst="rect">
            <a:avLst/>
          </a:prstGeom>
          <a:solidFill>
            <a:srgbClr val="101311"/>
          </a:solidFill>
          <a:ln w="12700">
            <a:solidFill>
              <a:srgbClr val="101311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8247888" y="35661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IS EVIDENCE,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MAGIC SCORE.</a:t>
            </a:r>
            <a:endParaRPr lang="en-US" sz="1900" dirty="0"/>
          </a:p>
        </p:txBody>
      </p:sp>
      <p:sp>
        <p:nvSpPr>
          <p:cNvPr id="30" name="Text 27"/>
          <p:cNvSpPr/>
          <p:nvPr/>
        </p:nvSpPr>
        <p:spPr>
          <a:xfrm>
            <a:off x="8522208" y="461772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source-localized region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229600" y="4690872"/>
            <a:ext cx="109728" cy="109728"/>
          </a:xfrm>
          <a:prstGeom prst="rect">
            <a:avLst/>
          </a:prstGeom>
          <a:solidFill>
            <a:srgbClr val="006B4F"/>
          </a:solidFill>
          <a:ln w="12700">
            <a:solidFill>
              <a:srgbClr val="006B4F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8522208" y="507492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 audience decode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229600" y="5148072"/>
            <a:ext cx="109728" cy="109728"/>
          </a:xfrm>
          <a:prstGeom prst="rect">
            <a:avLst/>
          </a:prstGeom>
          <a:solidFill>
            <a:srgbClr val="006B4F"/>
          </a:solidFill>
          <a:ln w="12700">
            <a:solidFill>
              <a:srgbClr val="006B4F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8522208" y="553212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failed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8229600" y="5605272"/>
            <a:ext cx="109728" cy="109728"/>
          </a:xfrm>
          <a:prstGeom prst="rect">
            <a:avLst/>
          </a:prstGeom>
          <a:solidFill>
            <a:srgbClr val="006B4F"/>
          </a:solidFill>
          <a:ln w="12700">
            <a:solidFill>
              <a:srgbClr val="006B4F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8522208" y="598932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repair + same-seat rescan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8229600" y="6062472"/>
            <a:ext cx="109728" cy="109728"/>
          </a:xfrm>
          <a:prstGeom prst="rect">
            <a:avLst/>
          </a:prstGeom>
          <a:solidFill>
            <a:srgbClr val="006B4F"/>
          </a:solidFill>
          <a:ln w="12700">
            <a:solidFill>
              <a:srgbClr val="006B4F"/>
            </a:solidFill>
            <a:prstDash val="solid"/>
          </a:ln>
        </p:spPr>
        <p:txBody>
          <a:bodyPr/>
          <a:p/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84048" y="658368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8716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94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6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LIVE DEMO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judge can use a phone from the actual audience position.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22128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687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6309360" y="22128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687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 VIEW</a:t>
            </a:r>
            <a:endParaRPr lang="en-US" sz="680" dirty="0"/>
          </a:p>
        </p:txBody>
      </p:sp>
      <p:pic>
        <p:nvPicPr>
          <p:cNvPr id="6" name="Image 0" descr="/mnt/data/BACKROW_YCWC_2026_V4_WORK/BACKROW_YCWC_2026_V4/assets/slide_2_sour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514600"/>
            <a:ext cx="5074920" cy="2852928"/>
          </a:xfrm>
          <a:prstGeom prst="rect">
            <a:avLst/>
          </a:prstGeom>
        </p:spPr>
      </p:pic>
      <p:pic>
        <p:nvPicPr>
          <p:cNvPr id="7" name="Image 1" descr="/mnt/data/BACKROW_YCWC_2026_V4_WORK/BACKROW_YCWC_2026_V4/assets/slide_2_view_ri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514600"/>
            <a:ext cx="5074920" cy="2852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58368" y="5577840"/>
            <a:ext cx="10725912" cy="566928"/>
          </a:xfrm>
          <a:prstGeom prst="rect">
            <a:avLst/>
          </a:prstGeom>
          <a:solidFill>
            <a:srgbClr val="101311"/>
          </a:solidFill>
          <a:ln w="12700">
            <a:solidFill>
              <a:srgbClr val="101311"/>
            </a:solidFill>
            <a:prstDash val="solid"/>
          </a:ln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658368" y="5577840"/>
            <a:ext cx="1097280" cy="566928"/>
          </a:xfrm>
          <a:prstGeom prst="rect">
            <a:avLst/>
          </a:prstGeom>
          <a:solidFill>
            <a:srgbClr val="E23A2E"/>
          </a:solidFill>
          <a:ln w="12700">
            <a:solidFill>
              <a:srgbClr val="E23A2E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749808" y="57607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RISK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993392" y="5687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2.5% → 25%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877056" y="57424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CC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 critical value changed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778240" y="576072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C9CCC9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NO PAGE INDEX GIVEN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84048" y="658368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8716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94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6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AI — and what is not.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773936"/>
            <a:ext cx="10515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54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separates custom learning, pretrained AI, classical vision, and deterministic safety logic.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24963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006B4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CUSTOM AI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1993392" y="24231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AudienceNet 2.0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74920" y="244144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54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 → 24 MLP · 16 paired source/camera/room features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2953512"/>
            <a:ext cx="10716768" cy="0"/>
          </a:xfrm>
          <a:prstGeom prst="line">
            <a:avLst/>
          </a:prstGeom>
          <a:noFill/>
          <a:ln w="7620">
            <a:solidFill>
              <a:srgbClr val="C6C9C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58368" y="328269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355D9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PRETRAINED AI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1993392" y="32095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Tesseract 5 LSTM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74920" y="322783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54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 text + numeric recovery · third-party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3739896"/>
            <a:ext cx="10716768" cy="0"/>
          </a:xfrm>
          <a:prstGeom prst="line">
            <a:avLst/>
          </a:prstGeom>
          <a:noFill/>
          <a:ln w="7620">
            <a:solidFill>
              <a:srgbClr val="C6C9C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8368" y="406908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5E615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CLASSICAL CV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1993392" y="39959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ORB + RANSAC + homography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74920" y="401421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54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retrieval · geometric verification · rectification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" y="4526280"/>
            <a:ext cx="10716768" cy="0"/>
          </a:xfrm>
          <a:prstGeom prst="line">
            <a:avLst/>
          </a:prstGeom>
          <a:noFill/>
          <a:ln w="7620">
            <a:solidFill>
              <a:srgbClr val="C6C9C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8368" y="485546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E23A2E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DETERMINISTIC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1993392" y="47823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numeric guard + evidence fusion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074920" y="480060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54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contradictions outrank learned uncertainty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" y="5312664"/>
            <a:ext cx="10716768" cy="0"/>
          </a:xfrm>
          <a:prstGeom prst="line">
            <a:avLst/>
          </a:prstGeom>
          <a:noFill/>
          <a:ln w="7620">
            <a:solidFill>
              <a:srgbClr val="C6C9C5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58368" y="58064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is core, but it is not allowed to erase direct evidence.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84048" y="658368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8716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94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6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FAIL-SAFE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evidence outranks model confidence.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240280"/>
            <a:ext cx="502920" cy="502920"/>
          </a:xfrm>
          <a:prstGeom prst="rect">
            <a:avLst/>
          </a:prstGeom>
          <a:solidFill>
            <a:srgbClr val="E23A2E"/>
          </a:solidFill>
          <a:ln w="12700">
            <a:solidFill>
              <a:srgbClr val="E23A2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236829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508760" y="2267712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EXACT LOSS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09160" y="22585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3A2E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source 2.5%  ≠  audience 25%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279806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DB3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081528"/>
            <a:ext cx="502920" cy="502920"/>
          </a:xfrm>
          <a:prstGeom prst="rect">
            <a:avLst/>
          </a:prstGeom>
          <a:solidFill>
            <a:srgbClr val="0B0D0C"/>
          </a:solidFill>
          <a:ln w="12700">
            <a:solidFill>
              <a:srgbClr val="0B0D0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32095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08760" y="310896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OCR / REGION EVIDENCE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9160" y="309981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B0D0C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content recovered or missing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363931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DB3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922776"/>
            <a:ext cx="502920" cy="502920"/>
          </a:xfrm>
          <a:prstGeom prst="rect">
            <a:avLst/>
          </a:prstGeom>
          <a:solidFill>
            <a:srgbClr val="006B4F"/>
          </a:solidFill>
          <a:ln w="12700">
            <a:solidFill>
              <a:srgbClr val="006B4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" y="40507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08760" y="395020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AUDIENCENET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394106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B4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learned survivability evidence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448056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DB3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764024"/>
            <a:ext cx="502920" cy="502920"/>
          </a:xfrm>
          <a:prstGeom prst="rect">
            <a:avLst/>
          </a:prstGeom>
          <a:solidFill>
            <a:srgbClr val="68716B"/>
          </a:solidFill>
          <a:ln w="12700">
            <a:solidFill>
              <a:srgbClr val="68716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31520" y="48920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08760" y="479145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 HEURISTICS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478231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16B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blur / contrast / glare support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" y="5577840"/>
            <a:ext cx="10561320" cy="502920"/>
          </a:xfrm>
          <a:prstGeom prst="rect">
            <a:avLst/>
          </a:prstGeom>
          <a:solidFill>
            <a:srgbClr val="E7E8E4"/>
          </a:solidFill>
          <a:ln w="12700">
            <a:solidFill>
              <a:srgbClr val="C1C5C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14400" y="5733288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slide identity / geometry / evidence is insufficient → NOT ENOUGH EVIDENCE.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84048" y="658368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8716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94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6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PRIOR ART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claim is narrow on purpose.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773936"/>
            <a:ext cx="10515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54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Readability is not new. Projector-camera assessment is not new. The workflow integration is the contribution.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23957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8716B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2011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737360" y="2377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LECTURE-HALL LEGIBILITY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23957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Cai · Kim · Green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086600" y="238658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geometry + text + lighting + observer acuity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2834640"/>
            <a:ext cx="10698480" cy="0"/>
          </a:xfrm>
          <a:prstGeom prst="line">
            <a:avLst/>
          </a:prstGeom>
          <a:noFill/>
          <a:ln w="6350">
            <a:solidFill>
              <a:srgbClr val="C5C8C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85800" y="31455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8716B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2017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737360" y="3127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PROJECTED-CONTENT QUALITY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31455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· Marshall · Doan · Mai · Liu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086600" y="31363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original + camera capture + rectification + learned quality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3584448"/>
            <a:ext cx="10698480" cy="0"/>
          </a:xfrm>
          <a:prstGeom prst="line">
            <a:avLst/>
          </a:prstGeom>
          <a:noFill/>
          <a:ln w="6350">
            <a:solidFill>
              <a:srgbClr val="C5C8C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5800" y="38953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8716B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737360" y="38770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SOURCE-FILE READABILITY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38953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SlideSpeak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86600" y="3886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 size + contrast + density + language complexity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4334256"/>
            <a:ext cx="10698480" cy="0"/>
          </a:xfrm>
          <a:prstGeom prst="line">
            <a:avLst/>
          </a:prstGeom>
          <a:noFill/>
          <a:ln w="6350">
            <a:solidFill>
              <a:srgbClr val="C5C8C4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5800" y="46451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B4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BACKROW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737360" y="46268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AUDIENCE-PATH QA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46451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086600" y="46360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 match + exact loss + repair/rescan + blinded field test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5800" y="5084064"/>
            <a:ext cx="10698480" cy="0"/>
          </a:xfrm>
          <a:prstGeom prst="line">
            <a:avLst/>
          </a:prstGeom>
          <a:noFill/>
          <a:ln w="6350">
            <a:solidFill>
              <a:srgbClr val="C5C8C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85800" y="566928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B4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DEFENSIBLE NOVELTY: N3–N4 APPLIED WORKFLOW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915400" y="5650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23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“world first” claim.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6108192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Cai et al. 2011 · Le et al. CRV 2017 · SlideSpeak current checker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84048" y="658368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8716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94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6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ENGINEERING EVIDENCE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custom model beats simple baselines — on its stated procedural task.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773936"/>
            <a:ext cx="10515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54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numbers are not human-readability accuracy.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28072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 rules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34640" y="2743200"/>
            <a:ext cx="3115397" cy="347472"/>
          </a:xfrm>
          <a:prstGeom prst="rect">
            <a:avLst/>
          </a:prstGeom>
          <a:solidFill>
            <a:srgbClr val="68716B"/>
          </a:solidFill>
          <a:ln w="12700">
            <a:solidFill>
              <a:srgbClr val="68716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59765" y="278892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0D0C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0.4056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geometry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0" y="3547872"/>
            <a:ext cx="3678412" cy="347472"/>
          </a:xfrm>
          <a:prstGeom prst="rect">
            <a:avLst/>
          </a:prstGeom>
          <a:solidFill>
            <a:srgbClr val="A97500"/>
          </a:solidFill>
          <a:ln w="12700">
            <a:solidFill>
              <a:srgbClr val="A9750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22780" y="35935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0D0C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0.4789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05840" y="44165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AudienceNet 2.0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4640" y="4352544"/>
            <a:ext cx="7237001" cy="347472"/>
          </a:xfrm>
          <a:prstGeom prst="rect">
            <a:avLst/>
          </a:prstGeom>
          <a:solidFill>
            <a:srgbClr val="006B4F"/>
          </a:solidFill>
          <a:ln w="12700">
            <a:solidFill>
              <a:srgbClr val="006B4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181369" y="439826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0D0C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0.9422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05840" y="5303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16B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1,440 samples · 48 template families · group-disjoint family split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915400" y="261518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6/6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915400" y="31638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87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 alignment cases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15400" y="373075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3/3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915400" y="4279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87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bundled deck matches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15400" y="48463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→ 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915400" y="53949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87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regions after repair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84048" y="658368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8716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94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6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PHYSICAL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camera-human gap is measured, not hand-waved.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438912" cy="438912"/>
          </a:xfrm>
          <a:prstGeom prst="ellipse">
            <a:avLst/>
          </a:prstGeom>
          <a:solidFill>
            <a:srgbClr val="101311"/>
          </a:solidFill>
          <a:ln w="12700">
            <a:solidFill>
              <a:srgbClr val="10131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245059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2880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B0D0C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RANDOMIZE</a:t>
            </a:r>
            <a:endParaRPr lang="en-US" sz="680" dirty="0"/>
          </a:p>
        </p:txBody>
      </p:sp>
      <p:sp>
        <p:nvSpPr>
          <p:cNvPr id="7" name="Shape 5"/>
          <p:cNvSpPr/>
          <p:nvPr/>
        </p:nvSpPr>
        <p:spPr>
          <a:xfrm>
            <a:off x="1216152" y="2551176"/>
            <a:ext cx="1600200" cy="0"/>
          </a:xfrm>
          <a:prstGeom prst="line">
            <a:avLst/>
          </a:prstGeom>
          <a:noFill/>
          <a:ln w="12700">
            <a:solidFill>
              <a:srgbClr val="ADB3A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880360" y="2331720"/>
            <a:ext cx="438912" cy="438912"/>
          </a:xfrm>
          <a:prstGeom prst="ellipse">
            <a:avLst/>
          </a:prstGeom>
          <a:solidFill>
            <a:srgbClr val="E23A2E"/>
          </a:solidFill>
          <a:ln w="12700">
            <a:solidFill>
              <a:srgbClr val="E23A2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880360" y="245059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743200" y="2880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B0D0C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SHOW 6 s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3364992" y="2551176"/>
            <a:ext cx="1600200" cy="0"/>
          </a:xfrm>
          <a:prstGeom prst="line">
            <a:avLst/>
          </a:prstGeom>
          <a:noFill/>
          <a:ln w="12700">
            <a:solidFill>
              <a:srgbClr val="ADB3AE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029200" y="2331720"/>
            <a:ext cx="438912" cy="438912"/>
          </a:xfrm>
          <a:prstGeom prst="ellipse">
            <a:avLst/>
          </a:prstGeom>
          <a:solidFill>
            <a:srgbClr val="101311"/>
          </a:solidFill>
          <a:ln w="12700">
            <a:solidFill>
              <a:srgbClr val="10131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0" y="245059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892040" y="2880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B0D0C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HIDE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5513832" y="2551176"/>
            <a:ext cx="1600200" cy="0"/>
          </a:xfrm>
          <a:prstGeom prst="line">
            <a:avLst/>
          </a:prstGeom>
          <a:noFill/>
          <a:ln w="12700">
            <a:solidFill>
              <a:srgbClr val="ADB3AE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178040" y="2331720"/>
            <a:ext cx="438912" cy="438912"/>
          </a:xfrm>
          <a:prstGeom prst="ellipse">
            <a:avLst/>
          </a:prstGeom>
          <a:solidFill>
            <a:srgbClr val="101311"/>
          </a:solidFill>
          <a:ln w="12700">
            <a:solidFill>
              <a:srgbClr val="10131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178040" y="245059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040880" y="2880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B0D0C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READER TYPES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7662672" y="2551176"/>
            <a:ext cx="1600200" cy="0"/>
          </a:xfrm>
          <a:prstGeom prst="line">
            <a:avLst/>
          </a:prstGeom>
          <a:noFill/>
          <a:ln w="12700">
            <a:solidFill>
              <a:srgbClr val="ADB3AE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326880" y="2331720"/>
            <a:ext cx="438912" cy="438912"/>
          </a:xfrm>
          <a:prstGeom prst="ellipse">
            <a:avLst/>
          </a:prstGeom>
          <a:solidFill>
            <a:srgbClr val="101311"/>
          </a:solidFill>
          <a:ln w="12700">
            <a:solidFill>
              <a:srgbClr val="101311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326880" y="245059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9189720" y="2880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B0D0C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LOCK RESPONSE</a:t>
            </a:r>
            <a:endParaRPr lang="en-US" sz="680" dirty="0"/>
          </a:p>
        </p:txBody>
      </p:sp>
      <p:pic>
        <p:nvPicPr>
          <p:cNvPr id="23" name="Image 0" descr="/mnt/data/BACKROW_YCWC_2026_V4_WORK/BACKROW_YCWC_2026_V4/preview/BACKROW_FIELD_STUDY_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429000"/>
            <a:ext cx="5074920" cy="2286000"/>
          </a:xfrm>
          <a:prstGeom prst="rect">
            <a:avLst/>
          </a:prstGeom>
        </p:spPr>
      </p:pic>
      <p:pic>
        <p:nvPicPr>
          <p:cNvPr id="24" name="Image 1" descr="/mnt/data/BACKROW_YCWC_2026_V4_WORK/BACKROW_YCWC_2026_V4/preview/BACKROW_FIELD_STUDY_REA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3429000"/>
            <a:ext cx="5074920" cy="22860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31520" y="58521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687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 / TRUTH CONTROL</a:t>
            </a:r>
            <a:endParaRPr lang="en-US" sz="680" dirty="0"/>
          </a:p>
        </p:txBody>
      </p:sp>
      <p:sp>
        <p:nvSpPr>
          <p:cNvPr id="26" name="Text 22"/>
          <p:cNvSpPr/>
          <p:nvPr/>
        </p:nvSpPr>
        <p:spPr>
          <a:xfrm>
            <a:off x="6236208" y="58521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687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BLINDED READER</a:t>
            </a:r>
            <a:endParaRPr lang="en-US" sz="680" dirty="0"/>
          </a:p>
        </p:txBody>
      </p:sp>
      <p:sp>
        <p:nvSpPr>
          <p:cNvPr id="27" name="Text 23"/>
          <p:cNvSpPr/>
          <p:nvPr/>
        </p:nvSpPr>
        <p:spPr>
          <a:xfrm>
            <a:off x="7269480" y="5843016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06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truth never appears in the participant payload before submission.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84048" y="658368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8716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94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6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ACTION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it. Fix it. Prove it.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22402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687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6355080" y="22402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10" kern="0" dirty="0">
                <a:solidFill>
                  <a:srgbClr val="687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</a:t>
            </a:r>
            <a:endParaRPr lang="en-US" sz="680" dirty="0"/>
          </a:p>
        </p:txBody>
      </p:sp>
      <p:pic>
        <p:nvPicPr>
          <p:cNvPr id="6" name="Image 0" descr="/mnt/data/BACKROW_YCWC_2026_V4_WORK/BACKROW_YCWC_2026_V4/assets/slide_2_view_ri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523744"/>
            <a:ext cx="5074920" cy="2852928"/>
          </a:xfrm>
          <a:prstGeom prst="rect">
            <a:avLst/>
          </a:prstGeom>
        </p:spPr>
      </p:pic>
      <p:pic>
        <p:nvPicPr>
          <p:cNvPr id="7" name="Image 1" descr="/mnt/data/BACKROW_YCWC_2026_V4_WORK/BACKROW_YCWC_2026_V4/assets/slide_2_view_fix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523744"/>
            <a:ext cx="5074920" cy="28529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8368" y="5577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23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AT RISK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5458968" y="55595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355080" y="5577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AT RISK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8001000" y="5568696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product is not a score. It is a verified repair loop.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58368" y="6053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B0D0C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CHOOSE A SLIDE.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84048" y="658368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8716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YCWC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BACKROW — Can the last row still read it?</dc:title>
  <dc:subject>YCWC 2026 Senior — BACKROW</dc:subject>
  <dc:creator>BACKROW</dc:creator>
  <cp:lastModifiedBy>BACKROW</cp:lastModifiedBy>
  <cp:revision>1</cp:revision>
  <dcterms:created xsi:type="dcterms:W3CDTF">2026-09-10T00:38:31Z</dcterms:created>
  <dcterms:modified xsi:type="dcterms:W3CDTF">2026-09-10T00:38:31Z</dcterms:modified>
</cp:coreProperties>
</file>